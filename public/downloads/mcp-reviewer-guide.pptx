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a0a2ee00d94146" /><Relationship Type="http://schemas.openxmlformats.org/officeDocument/2006/relationships/extended-properties" Target="/docProps/app.xml" Id="Ra5979206d638410f" /><Relationship Type="http://schemas.openxmlformats.org/officeDocument/2006/relationships/officeDocument" Target="/ppt/presentation.xml" Id="R2453985c29704d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fe189bcb774102"/>
  </p:sldMasterIdLst>
  <p:notesMasterIdLst>
    <p:notesMasterId xmlns:r="http://schemas.openxmlformats.org/officeDocument/2006/relationships" r:id="R9790902ec87d4526"/>
  </p:notesMasterIdLst>
  <p:sldIdLst>
    <p:sldId xmlns:r="http://schemas.openxmlformats.org/officeDocument/2006/relationships" id="256" r:id="R04678c3597684794"/>
    <p:sldId xmlns:r="http://schemas.openxmlformats.org/officeDocument/2006/relationships" id="257" r:id="Rd79ed8c312664d2c"/>
    <p:sldId xmlns:r="http://schemas.openxmlformats.org/officeDocument/2006/relationships" id="258" r:id="R743dad06a92d47be"/>
    <p:sldId xmlns:r="http://schemas.openxmlformats.org/officeDocument/2006/relationships" id="259" r:id="R3ee3ac3aab6a4d72"/>
    <p:sldId xmlns:r="http://schemas.openxmlformats.org/officeDocument/2006/relationships" id="260" r:id="Rd730dd24aea64a6f"/>
    <p:sldId xmlns:r="http://schemas.openxmlformats.org/officeDocument/2006/relationships" id="261" r:id="R4c3014e2ab9d4838"/>
    <p:sldId xmlns:r="http://schemas.openxmlformats.org/officeDocument/2006/relationships" id="262" r:id="Rccba2288f6844f38"/>
    <p:sldId xmlns:r="http://schemas.openxmlformats.org/officeDocument/2006/relationships" id="263" r:id="R736d52529ba643f9"/>
    <p:sldId xmlns:r="http://schemas.openxmlformats.org/officeDocument/2006/relationships" id="264" r:id="Rab52af552a5b448d"/>
    <p:sldId xmlns:r="http://schemas.openxmlformats.org/officeDocument/2006/relationships" id="265" r:id="R19750838403347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c95532a89441d7" /><Relationship Type="http://schemas.openxmlformats.org/officeDocument/2006/relationships/slideMaster" Target="/ppt/slideMasters/slideMaster1.xml" Id="R07fe189bcb774102" /><Relationship Type="http://schemas.openxmlformats.org/officeDocument/2006/relationships/notesMaster" Target="/ppt/notesMasters/notesMaster1.xml" Id="R9790902ec87d4526" /><Relationship Type="http://schemas.openxmlformats.org/officeDocument/2006/relationships/presProps" Target="/ppt/presProps.xml" Id="R0d75cc6ed0434f7c" /><Relationship Type="http://schemas.openxmlformats.org/officeDocument/2006/relationships/tableStyles" Target="/ppt/tableStyles.xml" Id="Rbddfeae6304f409d" /><Relationship Type="http://schemas.openxmlformats.org/officeDocument/2006/relationships/slide" Target="/ppt/slides/slide1.xml" Id="R04678c3597684794" /><Relationship Type="http://schemas.openxmlformats.org/officeDocument/2006/relationships/slide" Target="/ppt/slides/slide2.xml" Id="Rd79ed8c312664d2c" /><Relationship Type="http://schemas.openxmlformats.org/officeDocument/2006/relationships/slide" Target="/ppt/slides/slide3.xml" Id="R743dad06a92d47be" /><Relationship Type="http://schemas.openxmlformats.org/officeDocument/2006/relationships/slide" Target="/ppt/slides/slide4.xml" Id="R3ee3ac3aab6a4d72" /><Relationship Type="http://schemas.openxmlformats.org/officeDocument/2006/relationships/slide" Target="/ppt/slides/slide5.xml" Id="Rd730dd24aea64a6f" /><Relationship Type="http://schemas.openxmlformats.org/officeDocument/2006/relationships/slide" Target="/ppt/slides/slide6.xml" Id="R4c3014e2ab9d4838" /><Relationship Type="http://schemas.openxmlformats.org/officeDocument/2006/relationships/slide" Target="/ppt/slides/slide7.xml" Id="Rccba2288f6844f38" /><Relationship Type="http://schemas.openxmlformats.org/officeDocument/2006/relationships/slide" Target="/ppt/slides/slide8.xml" Id="R736d52529ba643f9" /><Relationship Type="http://schemas.openxmlformats.org/officeDocument/2006/relationships/slide" Target="/ppt/slides/slide9.xml" Id="Rab52af552a5b448d" /><Relationship Type="http://schemas.openxmlformats.org/officeDocument/2006/relationships/slide" Target="/ppt/slides/slide10.xml" Id="R19750838403347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32cacf173a44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22aa28b0f1403e" /><Relationship Type="http://schemas.openxmlformats.org/officeDocument/2006/relationships/notesMaster" Target="/ppt/notesMasters/notesMaster1.xml" Id="R511e264575f642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94e8244cce460e" /><Relationship Type="http://schemas.openxmlformats.org/officeDocument/2006/relationships/notesMaster" Target="/ppt/notesMasters/notesMaster1.xml" Id="R255bd3a5c22540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d3e922c5794ff7" /><Relationship Type="http://schemas.openxmlformats.org/officeDocument/2006/relationships/notesMaster" Target="/ppt/notesMasters/notesMaster1.xml" Id="Rfc748c204be547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aed9fec2c04cc7" /><Relationship Type="http://schemas.openxmlformats.org/officeDocument/2006/relationships/notesMaster" Target="/ppt/notesMasters/notesMaster1.xml" Id="R23e00b37839a48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1eee203b6f4589" /><Relationship Type="http://schemas.openxmlformats.org/officeDocument/2006/relationships/notesMaster" Target="/ppt/notesMasters/notesMaster1.xml" Id="R5b3911a9e9544f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9e7d17f7854887" /><Relationship Type="http://schemas.openxmlformats.org/officeDocument/2006/relationships/notesMaster" Target="/ppt/notesMasters/notesMaster1.xml" Id="Rde3c6ff1c60b45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6aa1a2d16d4262" /><Relationship Type="http://schemas.openxmlformats.org/officeDocument/2006/relationships/notesMaster" Target="/ppt/notesMasters/notesMaster1.xml" Id="R134aec5959e145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b669c77b444e33" /><Relationship Type="http://schemas.openxmlformats.org/officeDocument/2006/relationships/notesMaster" Target="/ppt/notesMasters/notesMaster1.xml" Id="R5169be398b0d40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f1da67fc304800" /><Relationship Type="http://schemas.openxmlformats.org/officeDocument/2006/relationships/notesMaster" Target="/ppt/notesMasters/notesMaster1.xml" Id="Ra51f581eef9f4c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1b6718e20c41c4" /><Relationship Type="http://schemas.openxmlformats.org/officeDocument/2006/relationships/notesMaster" Target="/ppt/notesMasters/notesMaster1.xml" Id="R4d92dcf86acb43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c0e6897d446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d0a118022948bf" /><Relationship Type="http://schemas.openxmlformats.org/officeDocument/2006/relationships/slideLayout" Target="/ppt/slideLayouts/slideLayout1.xml" Id="R36beaf2deb5541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beaf2deb5541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a01a46cce4244" /><Relationship Type="http://schemas.openxmlformats.org/officeDocument/2006/relationships/notesSlide" Target="/ppt/notesSlides/notesSlide1.xml" Id="R2c439de9dcd74e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adeff618e49d1" /><Relationship Type="http://schemas.openxmlformats.org/officeDocument/2006/relationships/notesSlide" Target="/ppt/notesSlides/notesSlide2.xml" Id="R777bc10a47ab4c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ddc66419a4565" /><Relationship Type="http://schemas.openxmlformats.org/officeDocument/2006/relationships/notesSlide" Target="/ppt/notesSlides/notesSlide3.xml" Id="R29287778d13e4f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ed6e76355423a" /><Relationship Type="http://schemas.openxmlformats.org/officeDocument/2006/relationships/notesSlide" Target="/ppt/notesSlides/notesSlide4.xml" Id="Rfa5f543b3a044f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cd111e9f64eae" /><Relationship Type="http://schemas.openxmlformats.org/officeDocument/2006/relationships/notesSlide" Target="/ppt/notesSlides/notesSlide5.xml" Id="Rbfbc24fa730347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9df65f8804844" /><Relationship Type="http://schemas.openxmlformats.org/officeDocument/2006/relationships/notesSlide" Target="/ppt/notesSlides/notesSlide6.xml" Id="R3580b4c27a4049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494ddd73e4594" /><Relationship Type="http://schemas.openxmlformats.org/officeDocument/2006/relationships/notesSlide" Target="/ppt/notesSlides/notesSlide7.xml" Id="R7e679e40ee4a43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78af98e8d4d61" /><Relationship Type="http://schemas.openxmlformats.org/officeDocument/2006/relationships/notesSlide" Target="/ppt/notesSlides/notesSlide8.xml" Id="R4be7578a5d8d41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7945727214f1d" /><Relationship Type="http://schemas.openxmlformats.org/officeDocument/2006/relationships/notesSlide" Target="/ppt/notesSlides/notesSlide9.xml" Id="Rbe7e553d94454f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8435b504e426c" /><Relationship Type="http://schemas.openxmlformats.org/officeDocument/2006/relationships/notesSlide" Target="/ppt/notesSlides/notesSlide10.xml" Id="R95ef1f421b684f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15BB44-C263-423B-A7F0-B5897D80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47CD0-71F9-4093-A657-B7EE0264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ATOMIX · REVIEWER ENABLEMENT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05A3B-40F7-469D-8373-3C1CD9AF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6EDF7"/>
                </a:solidFill>
              </a:defRPr>
            </a:pPr>
            <a:r>
              <a:rPr sz="3600" b="1">
                <a:solidFill>
                  <a:srgbClr val="E6EDF7"/>
                </a:solidFill>
              </a:rPr>
              <a:t>MCP security reviews need protocol evidence—not chat screenshots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3E5ED-194D-43E8-A435-4FCFF832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4A3B8"/>
                </a:solidFill>
              </a:defRPr>
            </a:pPr>
            <a:r>
              <a:rPr sz="1575" b="0">
                <a:solidFill>
                  <a:srgbClr val="94A3B8"/>
                </a:solidFill>
              </a:rPr>
              <a:t>A practical reviewer guide to discovery, JSON-RPC testing, authorization boundaries, agentic abuse cases, and defensible sign-off.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98CB7-FF7C-4DB5-84F0-E4525C82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287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1B9F5-2553-478C-AA74-391025C2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985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DD6FE"/>
                </a:solidFill>
              </a:defRPr>
            </a:pPr>
            <a:r>
              <a:rPr sz="1350" b="1">
                <a:solidFill>
                  <a:srgbClr val="DDD6FE"/>
                </a:solidFill>
              </a:rPr>
              <a:t>Start with inventory. Test direct invocation. Capture both allowed and denied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9DE06-189A-44C6-8075-71FB1866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19880614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FBA1B7-6C11-4F36-910C-438BB4BE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6B64A-E472-4793-B7E8-A0EE25CE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01 · REVIEW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CC270-6BEC-4E2D-9263-61A54AA1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6EDF7"/>
                </a:solidFill>
              </a:defRPr>
            </a:pPr>
            <a:r>
              <a:rPr sz="2925" b="1">
                <a:solidFill>
                  <a:srgbClr val="E6EDF7"/>
                </a:solidFill>
              </a:rPr>
              <a:t>Review the server as an execution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0609F-C1B4-4D85-8232-1DBE540A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4A3B8"/>
                </a:solidFill>
              </a:defRPr>
            </a:pPr>
            <a:r>
              <a:rPr sz="1575" b="0">
                <a:solidFill>
                  <a:srgbClr val="94A3B8"/>
                </a:solidFill>
              </a:rPr>
              <a:t>MCP connects an AI host to servers that expose tools, resources, and prompts. The security review must validate the server independently of the chat interface.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2F999-B16F-46A0-954A-32FF0B76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1A926-F3BE-4F6D-9691-2062A065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Host: user-facing AI 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3FB11-9459-4321-8611-59330640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A2623-C79F-4C86-9AF4-5E4ABECB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Client: one protocol connection per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22F34-6865-47C1-8B40-F5CB18C5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2938D-DAA3-40DC-918D-D5D8B5CE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Server: capability and enforcement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DE894-CBF6-41D2-8BEC-FB006D7A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57FA5-BBF9-4357-AC5B-84C32653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Reviewer question: what can be invoked directly, by whom, and against which data?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86DD7-C149-49C2-B4CD-F5B4E8B5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1141419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65B7B0-A6B5-4F10-857D-3D162737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9EEEB-E03D-4FA6-A7F8-D68AE548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02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2292D-2AC7-490E-88A7-1DC16917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6EDF7"/>
                </a:solidFill>
              </a:defRPr>
            </a:pPr>
            <a:r>
              <a:rPr sz="2925" b="1">
                <a:solidFill>
                  <a:srgbClr val="E6EDF7"/>
                </a:solidFill>
              </a:rPr>
              <a:t>Three primitives create three different risk surfaces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778F8-4310-420A-99DE-DA129D8E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4A3B8"/>
                </a:solidFill>
              </a:defRPr>
            </a:pPr>
            <a:r>
              <a:rPr sz="1575" b="0">
                <a:solidFill>
                  <a:srgbClr val="94A3B8"/>
                </a:solidFill>
              </a:rPr>
              <a:t>Treat each primitive according to who controls it and what it can 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58126-B83B-41AB-8F18-B05F03CD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CF321-9B7C-45A6-B9D1-F58A6E8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Tools — executable functions; validate schema, authorization, confirmation, audit, and rollback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4AD8B-CED4-4984-B442-9B12547E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33BD3-153A-4C61-94E4-CD1ACA83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Resources — contextual data; validate URI scope, tenant isolation, classification, and leakage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92E1D-00CE-47CB-8B76-0E5A14A9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C92CD-D37E-4977-B7D0-C7302A65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Prompts — reusable templates; validate arguments, embedded instructions, and injection handling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6E12B-4ED5-4B70-8BA5-D83A0C86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2CF69-5992-44FA-843F-B6CDF08B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Client features — sampling, roots, and elicitation require consent and boundary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E3C24-BF70-48D8-B217-053EFB3E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543888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E694DB-B53C-43AC-B5CF-9FFC0B27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83FBE-7703-419A-89DE-E18AC265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03 ·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110CC-2EF0-4A3C-B673-228357EA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6EDF7"/>
                </a:solidFill>
              </a:defRPr>
            </a:pPr>
            <a:r>
              <a:rPr sz="2925" b="1">
                <a:solidFill>
                  <a:srgbClr val="E6EDF7"/>
                </a:solidFill>
              </a:rPr>
              <a:t>Initialize before trusting discovery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54BE0-4A6A-481C-AE44-2D907776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4A3B8"/>
                </a:solidFill>
              </a:defRPr>
            </a:pPr>
            <a:r>
              <a:rPr sz="1575" b="0">
                <a:solidFill>
                  <a:srgbClr val="94A3B8"/>
                </a:solidFill>
              </a:rPr>
              <a:t>MCP uses JSON-RPC 2.0 and negotiates protocol capabilities during initialization.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F02F1-82C2-448C-A808-05820B1D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331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9E4F7-2DAA-4271-83BC-4AFCE291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4524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{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  "jsonrpc": "2.0", "id": 1,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  "method": "initialize",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  "params": {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    "protocolVersion": "2025-06-18",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    "capabilities": {},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    "clientInfo": {"name": "Atomix", "version": "1.0"}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  }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6A901-4538-478E-813C-7C276F5C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1F6AC-9055-4641-92AE-26CEAD3B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Match every response to its request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398D6-FB5E-4D71-95D9-7E7537AD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92529-9D02-48DA-AC34-31E42744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28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Expect result or error—not both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7ADB1-DD7E-4D9C-8BFD-25E82D51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4AEF0-B0F2-4C6B-BA2B-CB380B5C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Stateful HTTP servers may return Mcp-Session-Id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58966-A578-4DDB-A867-0509A941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1DB55-EAC0-4269-8CB3-C38E5C6A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81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A full client sends notifications/initialized after success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F3B4A-3DE0-4E21-A4CD-0CDE22EC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572076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3D051C-BB06-44B1-A83E-526F5E1F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4C989-6F19-435A-B4CC-39E58CAB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04 · DISCOVERY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AA749-7A0B-4A90-8AB7-668A35D9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6EDF7"/>
                </a:solidFill>
              </a:defRPr>
            </a:pPr>
            <a:r>
              <a:rPr sz="2925" b="1">
                <a:solidFill>
                  <a:srgbClr val="E6EDF7"/>
                </a:solidFill>
              </a:rPr>
              <a:t>Inventory first; execution comes later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E2991-393C-4FB2-8BE8-9B605DD3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4A3B8"/>
                </a:solidFill>
              </a:defRPr>
            </a:pPr>
            <a:r>
              <a:rPr sz="1575" b="0">
                <a:solidFill>
                  <a:srgbClr val="94A3B8"/>
                </a:solidFill>
              </a:rPr>
              <a:t>Discovery establishes the exposed attack surface without calling business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84E6A-BD06-4849-AC73-9223018C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8873D-F971-41F2-AC2B-E61D5B53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initialize — protocol and capability negotiation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CC7BD-5559-458E-A88A-3B7BF2F1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10705-B366-4A10-883E-DD318B33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tools/list — names, descriptions, input schemas, annotations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F009A-AFFE-4CDE-9BC4-04802FC6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3D9D4-6F4A-46F6-AB36-E3FCE2F8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resources/list — URIs, metadata, data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FC999-C5EF-4B6D-9214-59E2FCF3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08124-373A-4DE5-B8CC-D000DAC1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prompts/list — templates and arguments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CA77B-E91B-45BD-B96D-1F219015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86BCB-4B98-47BA-9BC0-E08FBC14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ping — reachability only; not proof of authorization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DB18C-5151-43F0-82EA-A907BE7F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21414678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9F46D0-D794-464D-A679-204E21A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35587-6BDB-4EC0-B17B-B580B9C1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05 · SCHEMA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72A54-453A-4A24-B4D9-386CD004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6EDF7"/>
                </a:solidFill>
              </a:defRPr>
            </a:pPr>
            <a:r>
              <a:rPr sz="2925" b="1">
                <a:solidFill>
                  <a:srgbClr val="E6EDF7"/>
                </a:solidFill>
              </a:rPr>
              <a:t>A tool schema is part of the security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8AB83-2C93-4C7C-BB10-FE18BF08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4A3B8"/>
                </a:solidFill>
              </a:defRPr>
            </a:pPr>
            <a:r>
              <a:rPr sz="1575" b="0">
                <a:solidFill>
                  <a:srgbClr val="94A3B8"/>
                </a:solidFill>
              </a:rPr>
              <a:t>Read each tool definition as an externally reachable API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41A39-CF33-4B3B-ABAC-37A523BE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E95E1-F71F-4E77-A137-1D0CE8E5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Is the name and description precise enough to prevent model misuse?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D1185-129E-4536-941C-1592844C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CF86C-6BB8-4F4E-8CF3-C9A4573C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Are inputs typed, bounded, required, and allowlisted?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BBA09-B88D-4F6E-BABC-9F515749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CA1A5-3F90-49B6-B19D-55513296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Can URL, host, path, query, command, or identifier fields enable SSRF, traversal, or injection?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B3ED0-EA5C-494B-ADB2-5F101E2C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30B3D-26EC-4147-ABCF-3ABA9B06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Does server-side authorization re-check actor, tenant, project, and record scope?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A99CB-3D9E-4BF6-A177-1170890E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DD5EA-6B26-449E-A57D-8AA2239E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Are write tools clearly marked and protected by approval?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F3011-586B-407F-87B1-AA7A51FD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625789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487E16-392E-4924-B77A-2AAC11F6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A1E98-B637-43F1-88CE-AA12014D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06 · CONTROLLED INVOCATION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FF829-6B3C-423C-981E-E3EF1328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6EDF7"/>
                </a:solidFill>
              </a:defRPr>
            </a:pPr>
            <a:r>
              <a:rPr sz="2925" b="1">
                <a:solidFill>
                  <a:srgbClr val="E6EDF7"/>
                </a:solidFill>
              </a:rPr>
              <a:t>Test read-only calls before any state-changing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5B81C-30F9-4703-BBEE-A1A6BE9E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4A3B8"/>
                </a:solidFill>
              </a:defRPr>
            </a:pPr>
            <a:r>
              <a:rPr sz="1575" b="0">
                <a:solidFill>
                  <a:srgbClr val="94A3B8"/>
                </a:solidFill>
              </a:rPr>
              <a:t>Use an approved test identity and arguments derived from tools/list.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CC685-C6CB-4AA4-A747-5E7CCD59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2331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08DEA-02A0-44D8-A376-6471C8FA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4524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{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  "jsonrpc": "2.0", "id": 3,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  "method": "tools/call",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  "params": {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    "name": "example.read_only_tool",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    "arguments": {"query": "approved test value"}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  }</a:t>
            </a:r>
          </a:p>
          <a:p xmlns:a="http://schemas.openxmlformats.org/drawingml/2006/main">
            <a:pPr>
              <a:defRPr sz="1200" b="0">
                <a:solidFill>
                  <a:srgbClr val="A5F3FC"/>
                </a:solidFill>
              </a:defRPr>
            </a:pPr>
            <a:r>
              <a:rPr sz="1200" b="0">
                <a:solidFill>
                  <a:srgbClr val="A5F3FC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04A0F-5CB6-49A4-98BA-0CBBF872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1335E-A09D-4822-BF6F-EABC2F85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Record role, endpoint, method, arguments, response, latency, and audit event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C9F37-BD6B-4CB3-A3F6-4AF8DA55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60365-816A-4CFD-9D43-C32C1F1C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28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For write tools: require approval, confirmation, idempotency, and rollback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42F2D-0B3C-43B0-97D5-E2234F38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382988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B4580C-5DDD-4E0C-BF85-B9ACCA81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962AC-16EB-49AD-B5D7-8E2C8651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07 · ABUSE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8C90B-F986-4634-BA22-0030963C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6EDF7"/>
                </a:solidFill>
              </a:defRPr>
            </a:pPr>
            <a:r>
              <a:rPr sz="2925" b="1">
                <a:solidFill>
                  <a:srgbClr val="E6EDF7"/>
                </a:solidFill>
              </a:rPr>
              <a:t>Negative tests prove the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36092-D7A3-4101-BCA6-C0912690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4A3B8"/>
                </a:solidFill>
              </a:defRPr>
            </a:pPr>
            <a:r>
              <a:rPr sz="1575" b="0">
                <a:solidFill>
                  <a:srgbClr val="94A3B8"/>
                </a:solidFill>
              </a:rPr>
              <a:t>A successful happy path is not sufficient evidence of control effectiveness.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F4E35-39A6-4719-BF7C-D908DDA3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4744F-0D0E-4633-BF0F-D3BE5310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Direct invocation outside the intended agent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89D3F-B507-4D9F-94FD-5DC0F8A7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D3A95-849C-43C8-B863-23F8E341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Cross-project, cross-user, and cross-tenant identifiers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1CA35-89C1-4B67-846E-F4239F93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C192E-6541-4D5D-B82E-E58C60FF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Prompt injection embedded in resources and tool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47284-B1A4-4796-81CD-6831F705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1051C-057D-4AFB-A24F-C6D3593C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Secrets or confidential data in responses, logs, prompts, and exports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18C82-ED12-423F-B925-0A8A491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4FE05-51A3-4831-B3D0-2147D8EC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SSRF, local addresses, metadata services, file URLs, and internal hosts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7685B-018C-41C7-B607-64CFBF99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AFE2E-9BE8-4640-A0FB-4C489641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Oversized inputs, repeated calls, replay, and unsafe tool sequencing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1A925-B637-4A2B-BF57-CCFE0893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23650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2D2D1B-E90C-4C1E-BDB0-D512BDD4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4B64-98F6-4E2A-A944-88ED4FEE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08 ·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51437-E1FD-42BE-8202-65FDA173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6EDF7"/>
                </a:solidFill>
              </a:defRPr>
            </a:pPr>
            <a:r>
              <a:rPr sz="2925" b="1">
                <a:solidFill>
                  <a:srgbClr val="E6EDF7"/>
                </a:solidFill>
              </a:rPr>
              <a:t>Evidence must connect request, decision, and server enforcement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9A291-54D4-4C3E-B144-47DC5032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4A3B8"/>
                </a:solidFill>
              </a:defRPr>
            </a:pPr>
            <a:r>
              <a:rPr sz="1575" b="0">
                <a:solidFill>
                  <a:srgbClr val="94A3B8"/>
                </a:solidFill>
              </a:rPr>
              <a:t>Capture enough context for another reviewer to reproduce the conclusion.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5055B-3030-431E-9EF4-915A72D1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C3D1B-72AC-403D-9C43-B5C66CCC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Positive case: allowed actor, scoped request, expected result, audit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89781-F386-4801-BC7F-E0BB0ABC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2430A-8518-44C4-8146-F0BD667D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Negative case: prohibited actor/scope, denial response, server-side denial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98661-30FB-4D7B-87F1-B793F07E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CFAA0-BE00-433B-B4FF-C84B25CB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Sanitize tokens while preserving header names and identity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FFF06-542A-4160-8D5F-681BDA96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381C7-9167-4030-BCD1-56F7F4ED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Export Atomix discovery JSON and attach selected JSON-RPC transcripts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F59DC-A8AB-435D-8932-6D028F02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B47EF-A339-48BA-BF8E-E8053A71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Document gaps, compensating controls, residual risk, owner, and due 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D7764-281F-4E7B-B23A-4884AD22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172193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0F293A-F38F-4B59-A110-BF9BB6CF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2FB6D-54D1-4550-B746-F6228609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09 · SIGN-OFF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FEC7F-4DBD-4FFD-88FB-D61C18C5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6EDF7"/>
                </a:solidFill>
              </a:defRPr>
            </a:pPr>
            <a:r>
              <a:rPr sz="2925" b="1">
                <a:solidFill>
                  <a:srgbClr val="E6EDF7"/>
                </a:solidFill>
              </a:rPr>
              <a:t>Close only when capability, control, and evidence align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01B13-05A9-42F6-B26A-673A961E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4A3B8"/>
                </a:solidFill>
              </a:defRPr>
            </a:pPr>
            <a:r>
              <a:rPr sz="1575" b="0">
                <a:solidFill>
                  <a:srgbClr val="94A3B8"/>
                </a:solidFill>
              </a:rPr>
              <a:t>A reviewer can recommend approval when the exposed inventory is understood and every sensitive path has enforceable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FF46F-03F5-4438-B49A-61CA5FE0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5BB9F-35E4-40B2-833B-A7536F95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Inventory matches deployment and FEAD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DF310-4559-443D-93D0-1B8EFE10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20D81-8FE9-464B-A845-A4CC1C32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Authentication and authorization are enforced server-side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21DFA-0486-468F-9682-4F12C23D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21D56-0CBC-48C7-866A-FC0D6B2A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Write/destructive tools have human-control safeguards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06504-DD6F-4A48-B22E-CDAFFAFF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AA6E7-168E-4DF5-9C66-5D010DAD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Data, secrets, logs, and exports follow classification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93545-ECA1-48A5-BB4F-1E6B73D6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0FB6E-2BA7-404E-AF33-D95A1EEC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Transport protections and session handling are verified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E179A-EF99-4D4A-AE68-5AF2F9A1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EEAAC-FCDA-4CF0-82A4-668F9061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6EDF7"/>
                </a:solidFill>
              </a:defRPr>
            </a:pPr>
            <a:r>
              <a:rPr sz="1350" b="0">
                <a:solidFill>
                  <a:srgbClr val="E6EDF7"/>
                </a:solidFill>
              </a:rPr>
              <a:t>Findings have owners, dates, retest criteria, and residual-risk decisions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B1D34-0681-4855-9E60-1AA4BC58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287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A2D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0BEF4-34F9-4D86-B6A9-5D386BFC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985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DD6FE"/>
                </a:solidFill>
              </a:defRPr>
            </a:pPr>
            <a:r>
              <a:rPr sz="1350" b="1">
                <a:solidFill>
                  <a:srgbClr val="DDD6FE"/>
                </a:solidFill>
              </a:rPr>
              <a:t>Atomix flow: Overview → Discovery → Inspector → Evidence export → FEAD → sign-off.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B7AC8-D76E-4A58-B2AA-E901C473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207334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2026-07-14T21:45:15.5350000Z</dcterms:created>
  <dcterms:modified xsi:type="dcterms:W3CDTF">2026-07-14T21:45:15.5350000Z</dcterms:modified>
</coreProperties>
</file>